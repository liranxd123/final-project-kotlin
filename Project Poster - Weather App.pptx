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5199975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23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891626"/>
            <a:ext cx="21419979" cy="1253324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8908198"/>
            <a:ext cx="18899981" cy="8691601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0802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67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974945"/>
            <a:ext cx="21734978" cy="14974888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4091502"/>
            <a:ext cx="21734978" cy="7874940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/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75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75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0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9583264"/>
            <a:ext cx="10709989" cy="228415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884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916661"/>
            <a:ext cx="21734978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8824938"/>
            <a:ext cx="10660769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3149904"/>
            <a:ext cx="10660769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8824938"/>
            <a:ext cx="10713272" cy="4324966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3149904"/>
            <a:ext cx="10713272" cy="193415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8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251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265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5183304"/>
            <a:ext cx="12757487" cy="25583147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43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399982"/>
            <a:ext cx="8127648" cy="8399939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5183304"/>
            <a:ext cx="12757487" cy="25583147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10799922"/>
            <a:ext cx="8127648" cy="20008190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06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68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916653"/>
            <a:ext cx="5433745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916653"/>
            <a:ext cx="15986234" cy="3050811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089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916661"/>
            <a:ext cx="21734978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9583264"/>
            <a:ext cx="21734978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86DA2-6F35-4111-ACB3-E2300C0C7C15}" type="datetimeFigureOut">
              <a:rPr lang="en-GB" smtClean="0"/>
              <a:t>03/06/2026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3366432"/>
            <a:ext cx="850499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3366432"/>
            <a:ext cx="5669994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CB9A-9BA4-4F40-AC33-1A1DB0F02A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80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55D3C5-B04D-41A5-9B17-C157FCAEF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049799"/>
              </p:ext>
            </p:extLst>
          </p:nvPr>
        </p:nvGraphicFramePr>
        <p:xfrm>
          <a:off x="818147" y="665380"/>
          <a:ext cx="23509706" cy="3563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8590">
                  <a:extLst>
                    <a:ext uri="{9D8B030D-6E8A-4147-A177-3AD203B41FA5}">
                      <a16:colId xmlns:a16="http://schemas.microsoft.com/office/drawing/2014/main" val="4092810084"/>
                    </a:ext>
                  </a:extLst>
                </a:gridCol>
                <a:gridCol w="13210674">
                  <a:extLst>
                    <a:ext uri="{9D8B030D-6E8A-4147-A177-3AD203B41FA5}">
                      <a16:colId xmlns:a16="http://schemas.microsoft.com/office/drawing/2014/main" val="3944608498"/>
                    </a:ext>
                  </a:extLst>
                </a:gridCol>
                <a:gridCol w="4740442">
                  <a:extLst>
                    <a:ext uri="{9D8B030D-6E8A-4147-A177-3AD203B41FA5}">
                      <a16:colId xmlns:a16="http://schemas.microsoft.com/office/drawing/2014/main" val="3295376166"/>
                    </a:ext>
                  </a:extLst>
                </a:gridCol>
              </a:tblGrid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/>
                        <a:t>Android Application Development With Kotlin</a:t>
                      </a:r>
                      <a:endParaRPr lang="en-GB" sz="4000" dirty="0"/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7600" dirty="0"/>
                        <a:t>Weather App</a:t>
                      </a:r>
                      <a:endParaRPr lang="he-IL" sz="7600" dirty="0"/>
                    </a:p>
                    <a:p>
                      <a:pPr algn="ctr"/>
                      <a:r>
                        <a:rPr lang="en-US" sz="5400" dirty="0"/>
                        <a:t>Presented by: Liran Cordova, Or Zuka, Or Rodrigez</a:t>
                      </a:r>
                      <a:endParaRPr lang="he-IL" sz="5400" dirty="0"/>
                    </a:p>
                    <a:p>
                      <a:pPr algn="ctr"/>
                      <a:r>
                        <a:rPr lang="en-US" sz="4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Semester B 2026</a:t>
                      </a:r>
                      <a:endParaRPr lang="en-GB" sz="40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rgbClr val="00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067825"/>
                  </a:ext>
                </a:extLst>
              </a:tr>
              <a:tr h="1781860">
                <a:tc>
                  <a:txBody>
                    <a:bodyPr/>
                    <a:lstStyle/>
                    <a:p>
                      <a:pPr marL="0" marR="0" lvl="0" indent="0" algn="ctr" defTabSz="251999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1" dirty="0">
                          <a:solidFill>
                            <a:schemeClr val="bg1"/>
                          </a:solidFill>
                        </a:rPr>
                        <a:t>Eran Katsav</a:t>
                      </a:r>
                      <a:endParaRPr lang="en-GB" sz="5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99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700668"/>
                  </a:ext>
                </a:extLst>
              </a:tr>
            </a:tbl>
          </a:graphicData>
        </a:graphic>
      </p:graphicFrame>
      <p:pic>
        <p:nvPicPr>
          <p:cNvPr id="1026" name="Picture 1" descr="Related image">
            <a:extLst>
              <a:ext uri="{FF2B5EF4-FFF2-40B4-BE49-F238E27FC236}">
                <a16:creationId xmlns:a16="http://schemas.microsoft.com/office/drawing/2014/main" id="{5A5333D2-7388-4619-A766-D87FC1725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0513" y="1040568"/>
            <a:ext cx="4252557" cy="281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4FA643-2B97-B7FF-B8E1-CE4DF7AC8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5545" y="4450087"/>
            <a:ext cx="10437555" cy="140448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676B061-8B18-12F6-90EF-07AFECBA0947}"/>
              </a:ext>
            </a:extLst>
          </p:cNvPr>
          <p:cNvSpPr/>
          <p:nvPr/>
        </p:nvSpPr>
        <p:spPr>
          <a:xfrm>
            <a:off x="818147" y="4478213"/>
            <a:ext cx="13343330" cy="5462955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1. </a:t>
            </a:r>
            <a:r>
              <a:rPr lang="en-US" sz="3600" b="1" dirty="0">
                <a:solidFill>
                  <a:schemeClr val="tx1"/>
                </a:solidFill>
              </a:rPr>
              <a:t>Introduction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Overview: This project presents a high-performance, reactive Android Weather Application built with Kotlin. The app provides users with real-time meteorological data, 5-day forecasts, and detailed Air Quality Index (AQI) reports.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Core Objective: To leverage modern Android development standards to create a tool that is both "Offline-First" (via Room database) and highly responsive (via Coroutines and Flow).</a:t>
            </a:r>
            <a:endParaRPr lang="en-IL" sz="36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482F3-2DE0-EAB0-7570-44D81ED438EC}"/>
              </a:ext>
            </a:extLst>
          </p:cNvPr>
          <p:cNvSpPr/>
          <p:nvPr/>
        </p:nvSpPr>
        <p:spPr>
          <a:xfrm>
            <a:off x="818147" y="10190281"/>
            <a:ext cx="13343330" cy="7147558"/>
          </a:xfrm>
          <a:prstGeom prst="roundRect">
            <a:avLst/>
          </a:prstGeom>
          <a:solidFill>
            <a:srgbClr val="E8F5E9"/>
          </a:solidFill>
          <a:ln w="15875">
            <a:solidFill>
              <a:srgbClr val="388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2. </a:t>
            </a:r>
            <a:r>
              <a:rPr lang="en-US" sz="3600" b="1" dirty="0">
                <a:solidFill>
                  <a:schemeClr val="tx1"/>
                </a:solidFill>
              </a:rPr>
              <a:t>Technical Architecture &amp; Tech Stack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Architecture: The app strictly follows the MVVM (Model-View-</a:t>
            </a:r>
            <a:r>
              <a:rPr lang="en-US" sz="3600" dirty="0" err="1">
                <a:solidFill>
                  <a:schemeClr val="tx1"/>
                </a:solidFill>
              </a:rPr>
              <a:t>ViewModel</a:t>
            </a:r>
            <a:r>
              <a:rPr lang="en-US" sz="3600" dirty="0">
                <a:solidFill>
                  <a:schemeClr val="tx1"/>
                </a:solidFill>
              </a:rPr>
              <a:t>) design pattern to ensure separation of concerns.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Dependency Injection: Dagger-Hilt is used to manage object lifecycles, making the app modular and testable.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Data Strategy: A Repository Pattern acts as the "Single Source of Truth," coordinating data between the Retrofit network client and the Room local persistence layer.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Background Tasks: </a:t>
            </a:r>
            <a:r>
              <a:rPr lang="en-US" sz="3600" dirty="0" err="1">
                <a:solidFill>
                  <a:schemeClr val="tx1"/>
                </a:solidFill>
              </a:rPr>
              <a:t>WorkManager</a:t>
            </a:r>
            <a:r>
              <a:rPr lang="en-US" sz="3600" dirty="0">
                <a:solidFill>
                  <a:schemeClr val="tx1"/>
                </a:solidFill>
              </a:rPr>
              <a:t> is implemented to handle periodic weather updates in the background, ensuring data is fresh even when the app is closed.</a:t>
            </a:r>
            <a:endParaRPr lang="en-IL" sz="36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93802D-BE88-2ABC-3638-26BA59F50C4F}"/>
              </a:ext>
            </a:extLst>
          </p:cNvPr>
          <p:cNvSpPr/>
          <p:nvPr/>
        </p:nvSpPr>
        <p:spPr>
          <a:xfrm>
            <a:off x="818147" y="17574667"/>
            <a:ext cx="13343330" cy="6819166"/>
          </a:xfrm>
          <a:prstGeom prst="roundRect">
            <a:avLst/>
          </a:prstGeom>
          <a:solidFill>
            <a:srgbClr val="FFF3E0"/>
          </a:solidFill>
          <a:ln w="15875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3. User Experience &amp; Navigation Flow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Navigation: The app utilizes the Jetpack Navigation Component with a single-activity architecture.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Key Modules:</a:t>
            </a:r>
          </a:p>
          <a:p>
            <a:r>
              <a:rPr lang="en-US" sz="3600" dirty="0">
                <a:solidFill>
                  <a:schemeClr val="tx1"/>
                </a:solidFill>
              </a:rPr>
              <a:t>◦Home/Latest: Immediate current weather via Location Services.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◦Forecast: Interactive list of upcoming weather trends.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◦ Pollution: Environmental health metrics (PM2.5, NO2, etc.).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◦ Favorites: A personalized database of cities for quick access.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UI/UX: Built using Material 3 design principles and </a:t>
            </a:r>
            <a:r>
              <a:rPr lang="en-US" sz="3600" dirty="0" err="1">
                <a:solidFill>
                  <a:schemeClr val="tx1"/>
                </a:solidFill>
              </a:rPr>
              <a:t>ViewBinding</a:t>
            </a:r>
            <a:r>
              <a:rPr lang="en-US" sz="3600" dirty="0">
                <a:solidFill>
                  <a:schemeClr val="tx1"/>
                </a:solidFill>
              </a:rPr>
              <a:t> for efficient UI updates.</a:t>
            </a:r>
            <a:endParaRPr lang="en-IL" sz="36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FA5C95-B973-D99E-5252-83A92E3FF2EC}"/>
              </a:ext>
            </a:extLst>
          </p:cNvPr>
          <p:cNvSpPr/>
          <p:nvPr/>
        </p:nvSpPr>
        <p:spPr>
          <a:xfrm>
            <a:off x="818147" y="24630661"/>
            <a:ext cx="13343330" cy="6429442"/>
          </a:xfrm>
          <a:prstGeom prst="roundRect">
            <a:avLst/>
          </a:prstGeom>
          <a:solidFill>
            <a:srgbClr val="F3E5F5"/>
          </a:solidFill>
          <a:ln w="15875">
            <a:solidFill>
              <a:srgbClr val="7B1F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4. </a:t>
            </a:r>
            <a:r>
              <a:rPr lang="en-US" sz="3600" b="1" dirty="0">
                <a:solidFill>
                  <a:schemeClr val="tx1"/>
                </a:solidFill>
              </a:rPr>
              <a:t>Conclusions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Achieved Goals: Successfully implemented a robust weather tracking system that synchronizes remote API data with a local database.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Results: The app provides sub-second UI updates through reactive streams (</a:t>
            </a:r>
            <a:r>
              <a:rPr lang="en-US" sz="3600" dirty="0" err="1">
                <a:solidFill>
                  <a:schemeClr val="tx1"/>
                </a:solidFill>
              </a:rPr>
              <a:t>LiveData</a:t>
            </a:r>
            <a:r>
              <a:rPr lang="en-US" sz="3600" dirty="0">
                <a:solidFill>
                  <a:schemeClr val="tx1"/>
                </a:solidFill>
              </a:rPr>
              <a:t>/Flow).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Comparison: Compared to the initial project target of a simple weather display, the final result exceeds requirements by including background workers, advanced Air Quality data, and persistent user favorites using Room.</a:t>
            </a:r>
            <a:endParaRPr lang="en-IL" sz="3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56646E-9793-947D-4B31-A7BCA0C1623E}"/>
              </a:ext>
            </a:extLst>
          </p:cNvPr>
          <p:cNvSpPr/>
          <p:nvPr/>
        </p:nvSpPr>
        <p:spPr>
          <a:xfrm>
            <a:off x="818147" y="31296930"/>
            <a:ext cx="13343330" cy="4037428"/>
          </a:xfrm>
          <a:prstGeom prst="roundRect">
            <a:avLst/>
          </a:prstGeom>
          <a:solidFill>
            <a:srgbClr val="ECEFF1"/>
          </a:solidFill>
          <a:ln w="15875">
            <a:solidFill>
              <a:srgbClr val="455A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5. </a:t>
            </a:r>
            <a:r>
              <a:rPr lang="en-US" sz="3600" b="1" dirty="0">
                <a:solidFill>
                  <a:schemeClr val="tx1"/>
                </a:solidFill>
              </a:rPr>
              <a:t>Discussions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Further Development: Future iterations will include Home Screen Widgets, severe weather push notifications, and detailed weather maps using Google Maps API.</a:t>
            </a:r>
          </a:p>
          <a:p>
            <a:r>
              <a:rPr lang="en-US" sz="3600" dirty="0">
                <a:solidFill>
                  <a:schemeClr val="tx1"/>
                </a:solidFill>
              </a:rPr>
              <a:t>◦ [Insert QR Code 1: Link to Project Demo Video]- will be done later</a:t>
            </a:r>
          </a:p>
          <a:p>
            <a:endParaRPr lang="en-IL" sz="3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C122DF-A58C-40C2-68B0-9794B00945A4}"/>
              </a:ext>
            </a:extLst>
          </p:cNvPr>
          <p:cNvSpPr/>
          <p:nvPr/>
        </p:nvSpPr>
        <p:spPr>
          <a:xfrm>
            <a:off x="14365545" y="31356292"/>
            <a:ext cx="10016283" cy="4258415"/>
          </a:xfrm>
          <a:prstGeom prst="roundRect">
            <a:avLst/>
          </a:prstGeom>
          <a:solidFill>
            <a:srgbClr val="E3F2FD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dirty="0">
                <a:solidFill>
                  <a:schemeClr val="tx1"/>
                </a:solidFill>
              </a:rPr>
              <a:t>• Access: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E5E944-9042-B0E1-0F61-23D62EA33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9978" y="32131266"/>
            <a:ext cx="3203092" cy="32030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C99DCA-610A-B394-63AF-C8DDF5A58255}"/>
              </a:ext>
            </a:extLst>
          </p:cNvPr>
          <p:cNvSpPr txBox="1"/>
          <p:nvPr/>
        </p:nvSpPr>
        <p:spPr>
          <a:xfrm>
            <a:off x="21000720" y="31775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9F90B2-C726-4EDD-64FC-FCA9B5EFCB50}"/>
              </a:ext>
            </a:extLst>
          </p:cNvPr>
          <p:cNvSpPr txBox="1"/>
          <p:nvPr/>
        </p:nvSpPr>
        <p:spPr>
          <a:xfrm>
            <a:off x="21000720" y="31577280"/>
            <a:ext cx="2865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GitHub link:</a:t>
            </a:r>
            <a:endParaRPr lang="en-IL" sz="2400" dirty="0"/>
          </a:p>
        </p:txBody>
      </p:sp>
      <p:pic>
        <p:nvPicPr>
          <p:cNvPr id="1028" name="Picture 1027" descr="hand_pho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5545" y="18494895"/>
            <a:ext cx="10016283" cy="1280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58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3017</TotalTime>
  <Words>423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Dmitry Patashov</dc:creator>
  <cp:lastModifiedBy>Or Zuka</cp:lastModifiedBy>
  <cp:revision>49</cp:revision>
  <dcterms:created xsi:type="dcterms:W3CDTF">2019-01-27T10:54:29Z</dcterms:created>
  <dcterms:modified xsi:type="dcterms:W3CDTF">2026-06-03T10:43:27Z</dcterms:modified>
</cp:coreProperties>
</file>