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5199975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2232" y="-2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5891626"/>
            <a:ext cx="21419979" cy="12533242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18908198"/>
            <a:ext cx="18899981" cy="8691601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0802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672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8974945"/>
            <a:ext cx="21734978" cy="14974888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24091502"/>
            <a:ext cx="21734978" cy="7874940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0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9583264"/>
            <a:ext cx="10709989" cy="2284150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9583264"/>
            <a:ext cx="10709989" cy="2284150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884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1916661"/>
            <a:ext cx="21734978" cy="695828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8824938"/>
            <a:ext cx="10660769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3149904"/>
            <a:ext cx="10660769" cy="193415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8824938"/>
            <a:ext cx="10713272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3149904"/>
            <a:ext cx="10713272" cy="193415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9586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518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0265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5183304"/>
            <a:ext cx="12757487" cy="25583147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435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5183304"/>
            <a:ext cx="12757487" cy="25583147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4069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0168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1916653"/>
            <a:ext cx="5433745" cy="30508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1916653"/>
            <a:ext cx="15986234" cy="3050811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0892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1916661"/>
            <a:ext cx="21734978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9583264"/>
            <a:ext cx="21734978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F86DA2-6F35-4111-ACB3-E2300C0C7C15}" type="datetimeFigureOut">
              <a:rPr lang="en-GB" smtClean="0"/>
              <a:t>18/06/2026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33366432"/>
            <a:ext cx="850499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2802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519995" rtl="0" eaLnBrk="1" latinLnBrk="0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0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55D3C5-B04D-41A5-9B17-C157FCAEF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049799"/>
              </p:ext>
            </p:extLst>
          </p:nvPr>
        </p:nvGraphicFramePr>
        <p:xfrm>
          <a:off x="818147" y="665380"/>
          <a:ext cx="23509706" cy="3563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8590">
                  <a:extLst>
                    <a:ext uri="{9D8B030D-6E8A-4147-A177-3AD203B41FA5}">
                      <a16:colId xmlns:a16="http://schemas.microsoft.com/office/drawing/2014/main" val="4092810084"/>
                    </a:ext>
                  </a:extLst>
                </a:gridCol>
                <a:gridCol w="13210674">
                  <a:extLst>
                    <a:ext uri="{9D8B030D-6E8A-4147-A177-3AD203B41FA5}">
                      <a16:colId xmlns:a16="http://schemas.microsoft.com/office/drawing/2014/main" val="3944608498"/>
                    </a:ext>
                  </a:extLst>
                </a:gridCol>
                <a:gridCol w="4740442">
                  <a:extLst>
                    <a:ext uri="{9D8B030D-6E8A-4147-A177-3AD203B41FA5}">
                      <a16:colId xmlns:a16="http://schemas.microsoft.com/office/drawing/2014/main" val="3295376166"/>
                    </a:ext>
                  </a:extLst>
                </a:gridCol>
              </a:tblGrid>
              <a:tr h="1781860">
                <a:tc>
                  <a:txBody>
                    <a:bodyPr/>
                    <a:lstStyle/>
                    <a:p>
                      <a:pPr marL="0" marR="0" lvl="0" indent="0" algn="ctr" defTabSz="251999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4000" dirty="0"/>
                        <a:t>Android Application Development With Kotlin</a:t>
                      </a:r>
                      <a:endParaRPr lang="en-GB" sz="4000" dirty="0"/>
                    </a:p>
                  </a:txBody>
                  <a:tcPr anchor="ctr">
                    <a:solidFill>
                      <a:srgbClr val="00999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7600" dirty="0"/>
                        <a:t>Weather App</a:t>
                      </a:r>
                      <a:endParaRPr lang="he-IL" sz="7600" dirty="0"/>
                    </a:p>
                    <a:p>
                      <a:pPr algn="ctr"/>
                      <a:r>
                        <a:rPr lang="en-US" sz="5400" dirty="0"/>
                        <a:t>Presented by: Liran Cordova, Or Zuka, Or Rodrigez</a:t>
                      </a:r>
                      <a:endParaRPr lang="he-IL" sz="5400" dirty="0"/>
                    </a:p>
                    <a:p>
                      <a:pPr algn="ctr"/>
                      <a:r>
                        <a:rPr lang="en-US" sz="4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Semester B 2026</a:t>
                      </a:r>
                      <a:endParaRPr lang="en-GB" sz="40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rgbClr val="009999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067825"/>
                  </a:ext>
                </a:extLst>
              </a:tr>
              <a:tr h="1781860">
                <a:tc>
                  <a:txBody>
                    <a:bodyPr/>
                    <a:lstStyle/>
                    <a:p>
                      <a:pPr marL="0" marR="0" lvl="0" indent="0" algn="ctr" defTabSz="251999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5400" b="1" dirty="0">
                          <a:solidFill>
                            <a:schemeClr val="bg1"/>
                          </a:solidFill>
                        </a:rPr>
                        <a:t>Eran Katsav</a:t>
                      </a:r>
                      <a:endParaRPr lang="en-GB" sz="5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999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700668"/>
                  </a:ext>
                </a:extLst>
              </a:tr>
            </a:tbl>
          </a:graphicData>
        </a:graphic>
      </p:graphicFrame>
      <p:pic>
        <p:nvPicPr>
          <p:cNvPr id="1026" name="Picture 1" descr="Related image">
            <a:extLst>
              <a:ext uri="{FF2B5EF4-FFF2-40B4-BE49-F238E27FC236}">
                <a16:creationId xmlns:a16="http://schemas.microsoft.com/office/drawing/2014/main" id="{5A5333D2-7388-4619-A766-D87FC1725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0513" y="1040568"/>
            <a:ext cx="4252557" cy="281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4FA643-2B97-B7FF-B8E1-CE4DF7AC8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5545" y="4450087"/>
            <a:ext cx="10437555" cy="140448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676B061-8B18-12F6-90EF-07AFECBA0947}"/>
              </a:ext>
            </a:extLst>
          </p:cNvPr>
          <p:cNvSpPr/>
          <p:nvPr/>
        </p:nvSpPr>
        <p:spPr>
          <a:xfrm>
            <a:off x="818147" y="4599345"/>
            <a:ext cx="13258640" cy="7369821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4000" b="1" dirty="0">
                <a:solidFill>
                  <a:schemeClr val="tx1"/>
                </a:solidFill>
              </a:rPr>
              <a:t>1. Introduction</a:t>
            </a:r>
          </a:p>
          <a:p>
            <a:r>
              <a:rPr sz="3200" b="0" dirty="0">
                <a:solidFill>
                  <a:schemeClr val="tx1"/>
                </a:solidFill>
              </a:rPr>
              <a:t>• Overview: This project presents a high-performance, reactive Android Weather Application built with Kotlin. The app provides real-time meteorological data, 5-day forecasts, and detailed Air Quality Index (AQI) reports.</a:t>
            </a:r>
          </a:p>
          <a:p>
            <a:r>
              <a:rPr sz="3200" b="0" dirty="0">
                <a:solidFill>
                  <a:schemeClr val="tx1"/>
                </a:solidFill>
              </a:rPr>
              <a:t>• Purpose: To offer a clean, distraction-free tool for monitoring local weather, air quality, and saved favorite cities.</a:t>
            </a:r>
          </a:p>
          <a:p>
            <a:r>
              <a:rPr sz="3200" b="0" dirty="0">
                <a:solidFill>
                  <a:schemeClr val="tx1"/>
                </a:solidFill>
              </a:rPr>
              <a:t>• Target Audience: General mobile users, frequent travelers, and health-conscious individuals who need reliable at-a-glance environmental information.</a:t>
            </a:r>
          </a:p>
          <a:p>
            <a:r>
              <a:rPr sz="3200" b="0" dirty="0">
                <a:solidFill>
                  <a:schemeClr val="tx1"/>
                </a:solidFill>
              </a:rPr>
              <a:t>• Core Objective: Leverage modern Android standards to build an "Offline-First" app (Room database) that stays responsive via Coroutines and Flow.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82F3-2DE0-EAB0-7570-44D81ED438EC}"/>
              </a:ext>
            </a:extLst>
          </p:cNvPr>
          <p:cNvSpPr/>
          <p:nvPr/>
        </p:nvSpPr>
        <p:spPr>
          <a:xfrm>
            <a:off x="733457" y="12447639"/>
            <a:ext cx="13343330" cy="8282070"/>
          </a:xfrm>
          <a:prstGeom prst="roundRect">
            <a:avLst/>
          </a:prstGeom>
          <a:solidFill>
            <a:srgbClr val="E8F5E9"/>
          </a:solidFill>
          <a:ln w="15875">
            <a:solidFill>
              <a:srgbClr val="388E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4000" b="1" dirty="0">
                <a:solidFill>
                  <a:schemeClr val="tx1"/>
                </a:solidFill>
              </a:rPr>
              <a:t>2. Technical Architecture &amp; Tech Stack</a:t>
            </a:r>
          </a:p>
          <a:p>
            <a:r>
              <a:rPr sz="3200" b="0" dirty="0">
                <a:solidFill>
                  <a:schemeClr val="tx1"/>
                </a:solidFill>
              </a:rPr>
              <a:t>• Architecture: MVVM (Model-View-</a:t>
            </a:r>
            <a:r>
              <a:rPr sz="3200" b="0" dirty="0" err="1">
                <a:solidFill>
                  <a:schemeClr val="tx1"/>
                </a:solidFill>
              </a:rPr>
              <a:t>ViewModel</a:t>
            </a:r>
            <a:r>
              <a:rPr sz="3200" b="0" dirty="0">
                <a:solidFill>
                  <a:schemeClr val="tx1"/>
                </a:solidFill>
              </a:rPr>
              <a:t>) with clear separation between UI, </a:t>
            </a:r>
            <a:r>
              <a:rPr sz="3200" b="0" dirty="0" err="1">
                <a:solidFill>
                  <a:schemeClr val="tx1"/>
                </a:solidFill>
              </a:rPr>
              <a:t>ViewModels</a:t>
            </a:r>
            <a:r>
              <a:rPr sz="3200" b="0" dirty="0">
                <a:solidFill>
                  <a:schemeClr val="tx1"/>
                </a:solidFill>
              </a:rPr>
              <a:t>, Repository, and data sources.</a:t>
            </a:r>
          </a:p>
          <a:p>
            <a:r>
              <a:rPr sz="3200" b="0" dirty="0">
                <a:solidFill>
                  <a:schemeClr val="tx1"/>
                </a:solidFill>
              </a:rPr>
              <a:t>• Dependency Injection: Dagger-Hilt manages object lifecycles for modular, testable code.</a:t>
            </a:r>
          </a:p>
          <a:p>
            <a:r>
              <a:rPr sz="3200" b="0" dirty="0">
                <a:solidFill>
                  <a:schemeClr val="tx1"/>
                </a:solidFill>
              </a:rPr>
              <a:t>• Data Strategy: Repository Pattern as the "Single Source of Truth" between Retrofit (</a:t>
            </a:r>
            <a:r>
              <a:rPr sz="3200" b="0" dirty="0" err="1">
                <a:solidFill>
                  <a:schemeClr val="tx1"/>
                </a:solidFill>
              </a:rPr>
              <a:t>OpenWeatherMap</a:t>
            </a:r>
            <a:r>
              <a:rPr sz="3200" b="0" dirty="0">
                <a:solidFill>
                  <a:schemeClr val="tx1"/>
                </a:solidFill>
              </a:rPr>
              <a:t> API) and Room local persistence.</a:t>
            </a:r>
          </a:p>
          <a:p>
            <a:r>
              <a:rPr sz="3200" b="0" dirty="0">
                <a:solidFill>
                  <a:schemeClr val="tx1"/>
                </a:solidFill>
              </a:rPr>
              <a:t>• Background Tasks: </a:t>
            </a:r>
            <a:r>
              <a:rPr sz="3200" b="0" dirty="0" err="1">
                <a:solidFill>
                  <a:schemeClr val="tx1"/>
                </a:solidFill>
              </a:rPr>
              <a:t>WorkManager</a:t>
            </a:r>
            <a:r>
              <a:rPr sz="3200" b="0" dirty="0">
                <a:solidFill>
                  <a:schemeClr val="tx1"/>
                </a:solidFill>
              </a:rPr>
              <a:t> performs periodic weather updates when the app is closed.</a:t>
            </a:r>
          </a:p>
          <a:p>
            <a:r>
              <a:rPr sz="3200" b="0" dirty="0">
                <a:solidFill>
                  <a:schemeClr val="tx1"/>
                </a:solidFill>
              </a:rPr>
              <a:t>• External Libraries: Retrofit, </a:t>
            </a:r>
            <a:r>
              <a:rPr sz="3200" b="0" dirty="0" err="1">
                <a:solidFill>
                  <a:schemeClr val="tx1"/>
                </a:solidFill>
              </a:rPr>
              <a:t>Gson</a:t>
            </a:r>
            <a:r>
              <a:rPr sz="3200" b="0" dirty="0">
                <a:solidFill>
                  <a:schemeClr val="tx1"/>
                </a:solidFill>
              </a:rPr>
              <a:t>, Room, Dagger-Hilt, Glide, </a:t>
            </a:r>
            <a:r>
              <a:rPr sz="3200" b="0" dirty="0" err="1">
                <a:solidFill>
                  <a:schemeClr val="tx1"/>
                </a:solidFill>
              </a:rPr>
              <a:t>WorkManager</a:t>
            </a:r>
            <a:r>
              <a:rPr sz="3200" b="0" dirty="0">
                <a:solidFill>
                  <a:schemeClr val="tx1"/>
                </a:solidFill>
              </a:rPr>
              <a:t>, Jetpack Navigation, Material 3, Google Play Location Services.</a:t>
            </a:r>
          </a:p>
          <a:p>
            <a:r>
              <a:rPr sz="3200" b="0" dirty="0">
                <a:solidFill>
                  <a:schemeClr val="tx1"/>
                </a:solidFill>
              </a:rPr>
              <a:t>• Key Methods: offline-first repository sync, </a:t>
            </a:r>
            <a:r>
              <a:rPr sz="3200" b="0" dirty="0" err="1">
                <a:solidFill>
                  <a:schemeClr val="tx1"/>
                </a:solidFill>
              </a:rPr>
              <a:t>ViewModel</a:t>
            </a:r>
            <a:r>
              <a:rPr sz="3200" b="0" dirty="0">
                <a:solidFill>
                  <a:schemeClr val="tx1"/>
                </a:solidFill>
              </a:rPr>
              <a:t> coroutine loading, GPS-based refresh, and background worker updates.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93802D-BE88-2ABC-3638-26BA59F50C4F}"/>
              </a:ext>
            </a:extLst>
          </p:cNvPr>
          <p:cNvSpPr/>
          <p:nvPr/>
        </p:nvSpPr>
        <p:spPr>
          <a:xfrm>
            <a:off x="733457" y="21208181"/>
            <a:ext cx="13343330" cy="5479876"/>
          </a:xfrm>
          <a:prstGeom prst="roundRect">
            <a:avLst/>
          </a:prstGeom>
          <a:solidFill>
            <a:srgbClr val="FFF3E0"/>
          </a:solidFill>
          <a:ln w="15875">
            <a:solidFill>
              <a:srgbClr val="F57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4000" b="1" dirty="0">
                <a:solidFill>
                  <a:schemeClr val="tx1"/>
                </a:solidFill>
              </a:rPr>
              <a:t>3. User Experience &amp; Navigation Flow</a:t>
            </a:r>
          </a:p>
          <a:p>
            <a:r>
              <a:rPr sz="3200" b="0" dirty="0">
                <a:solidFill>
                  <a:schemeClr val="tx1"/>
                </a:solidFill>
              </a:rPr>
              <a:t>• Diagrams (right): Application screen-flow chart and MVVM / Repository architecture UML-style diagram with navigation paths and screenshots.</a:t>
            </a:r>
          </a:p>
          <a:p>
            <a:r>
              <a:rPr sz="3200" b="0" dirty="0">
                <a:solidFill>
                  <a:schemeClr val="tx1"/>
                </a:solidFill>
              </a:rPr>
              <a:t>• Navigation: Single-activity app using Jetpack Navigation Component and Material 3 bottom navigation.</a:t>
            </a:r>
          </a:p>
          <a:p>
            <a:r>
              <a:rPr sz="3200" b="0" dirty="0">
                <a:solidFill>
                  <a:schemeClr val="tx1"/>
                </a:solidFill>
              </a:rPr>
              <a:t>• Key Modules: Home &amp; Latest (GPS weather), Forecast, Pollution (AQI / PM2.5 / NO₂), Favorites (Room), and Settings.</a:t>
            </a:r>
          </a:p>
          <a:p>
            <a:r>
              <a:rPr sz="3200" b="0" dirty="0">
                <a:solidFill>
                  <a:schemeClr val="tx1"/>
                </a:solidFill>
              </a:rPr>
              <a:t>• UI/UX: Material 3 design, </a:t>
            </a:r>
            <a:r>
              <a:rPr sz="3200" b="0" dirty="0" err="1">
                <a:solidFill>
                  <a:schemeClr val="tx1"/>
                </a:solidFill>
              </a:rPr>
              <a:t>ViewBinding</a:t>
            </a:r>
            <a:r>
              <a:rPr sz="3200" b="0" dirty="0">
                <a:solidFill>
                  <a:schemeClr val="tx1"/>
                </a:solidFill>
              </a:rPr>
              <a:t>, and reactive UI updates via </a:t>
            </a:r>
            <a:r>
              <a:rPr sz="3200" b="0" dirty="0" err="1">
                <a:solidFill>
                  <a:schemeClr val="tx1"/>
                </a:solidFill>
              </a:rPr>
              <a:t>LiveData</a:t>
            </a:r>
            <a:r>
              <a:rPr sz="3200" b="0" dirty="0">
                <a:solidFill>
                  <a:schemeClr val="tx1"/>
                </a:solidFill>
              </a:rPr>
              <a:t> / Flow.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BFA5C95-B973-D99E-5252-83A92E3FF2EC}"/>
              </a:ext>
            </a:extLst>
          </p:cNvPr>
          <p:cNvSpPr/>
          <p:nvPr/>
        </p:nvSpPr>
        <p:spPr>
          <a:xfrm>
            <a:off x="733457" y="27166528"/>
            <a:ext cx="13343330" cy="4130401"/>
          </a:xfrm>
          <a:prstGeom prst="roundRect">
            <a:avLst/>
          </a:prstGeom>
          <a:solidFill>
            <a:srgbClr val="F3E5F5"/>
          </a:solidFill>
          <a:ln w="15875">
            <a:solidFill>
              <a:srgbClr val="7B1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4000" b="1" dirty="0">
                <a:solidFill>
                  <a:schemeClr val="tx1"/>
                </a:solidFill>
              </a:rPr>
              <a:t>4. Conclusions</a:t>
            </a:r>
          </a:p>
          <a:p>
            <a:r>
              <a:rPr sz="3200" b="0" dirty="0">
                <a:solidFill>
                  <a:schemeClr val="tx1"/>
                </a:solidFill>
              </a:rPr>
              <a:t>• Achieved Goals: Robust weather tracking with synchronized remote API data and local Room storage.</a:t>
            </a:r>
          </a:p>
          <a:p>
            <a:r>
              <a:rPr sz="3200" b="0" dirty="0">
                <a:solidFill>
                  <a:schemeClr val="tx1"/>
                </a:solidFill>
              </a:rPr>
              <a:t>• Results: Sub-second UI updates through reactive streams (</a:t>
            </a:r>
            <a:r>
              <a:rPr sz="3200" b="0" dirty="0" err="1">
                <a:solidFill>
                  <a:schemeClr val="tx1"/>
                </a:solidFill>
              </a:rPr>
              <a:t>LiveData</a:t>
            </a:r>
            <a:r>
              <a:rPr sz="3200" b="0" dirty="0">
                <a:solidFill>
                  <a:schemeClr val="tx1"/>
                </a:solidFill>
              </a:rPr>
              <a:t> / Flow).</a:t>
            </a:r>
          </a:p>
          <a:p>
            <a:r>
              <a:rPr sz="3200" b="0" dirty="0">
                <a:solidFill>
                  <a:schemeClr val="tx1"/>
                </a:solidFill>
              </a:rPr>
              <a:t>• Comparison: Exceeds the initial simple-weather target with background workers, air-quality data, and persistent favorites.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256646E-9793-947D-4B31-A7BCA0C1623E}"/>
              </a:ext>
            </a:extLst>
          </p:cNvPr>
          <p:cNvSpPr/>
          <p:nvPr/>
        </p:nvSpPr>
        <p:spPr>
          <a:xfrm>
            <a:off x="733457" y="31775400"/>
            <a:ext cx="13343330" cy="3839307"/>
          </a:xfrm>
          <a:prstGeom prst="roundRect">
            <a:avLst/>
          </a:prstGeom>
          <a:solidFill>
            <a:srgbClr val="ECEFF1"/>
          </a:solidFill>
          <a:ln w="15875">
            <a:solidFill>
              <a:srgbClr val="455A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4000" b="1" dirty="0">
                <a:solidFill>
                  <a:schemeClr val="tx1"/>
                </a:solidFill>
              </a:rPr>
              <a:t>5. Discussions</a:t>
            </a:r>
          </a:p>
          <a:p>
            <a:r>
              <a:rPr sz="3200" b="0" dirty="0">
                <a:solidFill>
                  <a:schemeClr val="tx1"/>
                </a:solidFill>
              </a:rPr>
              <a:t>• Further Development: Home-screen widgets, severe-weather notifications, and interactive radar maps via Google Maps API.</a:t>
            </a:r>
          </a:p>
          <a:p>
            <a:r>
              <a:rPr sz="3200" b="0" dirty="0">
                <a:solidFill>
                  <a:schemeClr val="tx1"/>
                </a:solidFill>
              </a:rPr>
              <a:t>• Demo Video: Scan the QR code in the Access section or watch on YouTube: https://www.youtube.com/watch?v=B0h5Y6Pb5s0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C122DF-A58C-40C2-68B0-9794B00945A4}"/>
              </a:ext>
            </a:extLst>
          </p:cNvPr>
          <p:cNvSpPr/>
          <p:nvPr/>
        </p:nvSpPr>
        <p:spPr>
          <a:xfrm>
            <a:off x="14365545" y="31356292"/>
            <a:ext cx="10437555" cy="4258415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3800" b="1" dirty="0">
                <a:solidFill>
                  <a:schemeClr val="tx1"/>
                </a:solidFill>
              </a:rPr>
              <a:t>• Access: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E5E944-9042-B0E1-0F61-23D62EA332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9978" y="31842507"/>
            <a:ext cx="3491850" cy="34918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C99DCA-610A-B394-63AF-C8DDF5A58255}"/>
              </a:ext>
            </a:extLst>
          </p:cNvPr>
          <p:cNvSpPr txBox="1"/>
          <p:nvPr/>
        </p:nvSpPr>
        <p:spPr>
          <a:xfrm>
            <a:off x="21000720" y="317754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9F90B2-C726-4EDD-64FC-FCA9B5EFCB50}"/>
              </a:ext>
            </a:extLst>
          </p:cNvPr>
          <p:cNvSpPr txBox="1"/>
          <p:nvPr/>
        </p:nvSpPr>
        <p:spPr>
          <a:xfrm>
            <a:off x="20889978" y="31311065"/>
            <a:ext cx="2865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400" dirty="0"/>
              <a:t>GitHub </a:t>
            </a:r>
          </a:p>
        </p:txBody>
      </p:sp>
      <p:pic>
        <p:nvPicPr>
          <p:cNvPr id="1028" name="Picture 1027" descr="hand_pho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65545" y="18494895"/>
            <a:ext cx="10016283" cy="128020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8DC438E-8997-D725-847D-466B5EE98B8A}"/>
              </a:ext>
            </a:extLst>
          </p:cNvPr>
          <p:cNvSpPr txBox="1"/>
          <p:nvPr/>
        </p:nvSpPr>
        <p:spPr>
          <a:xfrm>
            <a:off x="17217525" y="31342157"/>
            <a:ext cx="2865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400" dirty="0"/>
              <a:t>Video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1A65628-EFB9-36AC-4D22-DAF57B899CA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7525" y="31839920"/>
            <a:ext cx="3494437" cy="349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458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3057</TotalTime>
  <Words>465</Words>
  <Application>Microsoft Office PowerPoint</Application>
  <PresentationFormat>Custom</PresentationFormat>
  <Paragraphs>32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Dmitry Patashov</dc:creator>
  <cp:lastModifiedBy>Or Zuka</cp:lastModifiedBy>
  <cp:revision>57</cp:revision>
  <dcterms:created xsi:type="dcterms:W3CDTF">2019-01-27T10:54:29Z</dcterms:created>
  <dcterms:modified xsi:type="dcterms:W3CDTF">2026-06-18T17:33:29Z</dcterms:modified>
</cp:coreProperties>
</file>